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♜  Chess Engine with AI-Driven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Calibri"/>
              </a:defRPr>
            </a:pPr>
            <a:r>
              <a:t>Minimax Search with Alpha-Beta Pruning &amp; Texel-Tuned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383280"/>
            <a:ext cx="3931920" cy="381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IT255 — Artificial Intelligence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Team Members:</a:t>
            </a:r>
            <a:br/>
            <a:r>
              <a:t>&lt;Name 1&gt;  |  &lt;Name 2&gt;  |  &lt;Name 3&gt;  |  &lt;Name 4&gt;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Guide: &lt;Professor Name&gt;  |  Department of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1463040"/>
            <a:ext cx="640080" cy="6400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508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Innovation &amp; Novelty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920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Calibri"/>
              </a:defRPr>
            </a:pPr>
            <a:r>
              <a:t>[1.5 Marks]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560320"/>
            <a:ext cx="640080" cy="64008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6060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Problem Statement &amp;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017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Calibri"/>
              </a:defRPr>
            </a:pPr>
            <a:r>
              <a:t>[1 Mark]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657600"/>
            <a:ext cx="640080" cy="640080"/>
          </a:xfrm>
          <a:prstGeom prst="ellipse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7033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Methodology &amp;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114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B2FF7"/>
                </a:solidFill>
                <a:latin typeface="Calibri"/>
              </a:defRPr>
            </a:pPr>
            <a:r>
              <a:t>[2 Marks]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4754880"/>
            <a:ext cx="640080" cy="64008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8006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2120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F43"/>
                </a:solidFill>
                <a:latin typeface="Calibri"/>
              </a:defRPr>
            </a:pPr>
            <a:r>
              <a:t>[2.5 Marks]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Innovation &amp; Novelty in the Proposed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14400"/>
            <a:ext cx="54864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22860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00D2FF"/>
                </a:solidFill>
                <a:latin typeface="Calibri"/>
              </a:defRPr>
            </a:pPr>
            <a:r>
              <a:t>🔬 What Makes This Engine Unique?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Full-stack chess engine built from scratch in Python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Combines classical AI (Minimax + Alpha-Beta) with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  data-driven optimization (Texel Tuning via L-BFGS-B)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803-parameter evaluation function tuned on Stockfish data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Tapered evaluation: smooth middlegame ↔ endgame transition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03520" cy="22860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7B2FF7"/>
                </a:solidFill>
                <a:latin typeface="Calibri"/>
              </a:defRPr>
            </a:pPr>
            <a:r>
              <a:t>⚡ Technical Innovations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PeSTO Piece-Square Tables with Texel-tuned refinement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Specialized endgame heuristics: KBN, KBB, KRK mating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Polyglot opening book + Syzygy endgame tablebases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Mop-up evaluation for decisive material advantages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Self-play benchmarking framework with live Pygame viewer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49039"/>
            <a:ext cx="11064240" cy="25603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00E676"/>
                </a:solidFill>
                <a:latin typeface="Calibri"/>
              </a:defRPr>
            </a:pPr>
            <a:r>
              <a:t>🏗️ Novel Architecture: Hybrid Classical + Data-Driven AI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Classical Search Layer: Negamax with alpha-beta pruning, iterative deepening, aspiration windows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Optimization Layer: 803 evaluation parameters (10 material + 768 PST + 25 bonus) optimized via Texel Tuning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Knowledge Layer: Opening book lookup (Polyglot .bin), Syzygy tablebase probing for ≤5-piece endgames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Acceleration Layer: Transposition table (1M entries), null-move pruning, LMR, PVS, killer/history heuristics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Interactive UI Layer: Full Pygame chessboard with drag-and-drop, evaluation bar, clock system, premove support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Evaluation Layer: Pawn structure analysis (doubled, isolated, passed pawns), bishop pair, rook on open files, king safety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Innovation Deep Dive: Texel Tuning with L-BFGS-B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14400"/>
            <a:ext cx="54864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22860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00D2FF"/>
                </a:solidFill>
                <a:latin typeface="Calibri"/>
              </a:defRPr>
            </a:pPr>
            <a:r>
              <a:t>📊 Objective Function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Minimize MSE between engine's predicted win probability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  and Stockfish's evaluation across 50,000+ positions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pred_prob = σ(score / 400) using logistic sigmoid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Loss = mean((pred_prob - sf_prob)²)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Gradient computed analytically → fed to L-BFGS-B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22860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7B2FF7"/>
                </a:solidFill>
                <a:latin typeface="Calibri"/>
              </a:defRPr>
            </a:pPr>
            <a:r>
              <a:t>🎯 Parameters Tuned (803 Total)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10 Material values: MG/EG for P, N, B, R, Q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768 Piece-Square Table entries (12 tables × 64 squares)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25 Bonus/Penalty parameters: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  Doubled/Isolated pawns, Bishop pair, Rook files,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  Passed pawn bonuses (MG+EG), King shield, Hanging pieces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49039"/>
            <a:ext cx="5486400" cy="25603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FF9F43"/>
                </a:solidFill>
                <a:latin typeface="Calibri"/>
              </a:defRPr>
            </a:pPr>
            <a:r>
              <a:t>📐 Design Matrix Construction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Each position → 803-dimensional feature vector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Features extracted exactly matching evaluation.py logic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Game-phase tapering applied: mg_weight, eg_weight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Mop-up evaluation computed as constant bias term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Eliminates Omitted Variable Bias for accurate tuning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486400" cy="25603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00E676"/>
                </a:solidFill>
                <a:latin typeface="Calibri"/>
              </a:defRPr>
            </a:pPr>
            <a:r>
              <a:t>📈 Tuning Results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Material values adjusted: e.g., Pawn 82→100, Knight 337→411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Bishop pair bonus: 30 → 37 (confirmed importance)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Hanging piece penalties increased significantly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Passed pawn bonuses amplified in endgame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Self-play benchmark: Tuned engine outperforms original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 &amp;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14400"/>
            <a:ext cx="45720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064240" cy="20116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00E676"/>
                </a:solidFill>
                <a:latin typeface="Calibri"/>
              </a:defRPr>
            </a:pPr>
            <a:r>
              <a:t>🎯 Problem Statement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• Traditional chess engines rely on hand-tuned evaluation functions, leading to suboptimal piece valuations and positional assessment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• Developing a competitive chess engine requires balancing search efficiency with evaluation accuracy across all game phases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• Endgame play (especially KBN, KBB vs K) demands specialized heuristics that are notoriously difficult to engineer by hand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• The challenge is: Can we build an engine that combines classical search with data-driven weight optimization to achieve strong play?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5303520" cy="2926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00D2FF"/>
                </a:solidFill>
                <a:latin typeface="Calibri"/>
              </a:defRPr>
            </a:pPr>
            <a:r>
              <a:t>🏆 Primary Objectives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Build a complete chess engine from the ground up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Implement Minimax search with alpha-beta pruning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Design a comprehensive evaluation function with: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  → Material + PST + Pawn Structure + King Safety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Optimize 803 evaluation parameters using Texel Tuning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Achieve measurable improvement over hand-tuned baseline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Create an interactive GUI for human vs engine play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74720"/>
            <a:ext cx="5303520" cy="2926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7B2FF7"/>
                </a:solidFill>
                <a:latin typeface="Calibri"/>
              </a:defRPr>
            </a:pPr>
            <a:r>
              <a:t>🔧 Secondary Objectives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Integrate Polyglot opening book for natural opening play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Add Syzygy tablebase support for perfect endgame play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Implement advanced search enhancements: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  → Null-move pruning, LMR, PVS, Aspiration windows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Build a self-play benchmarking framework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Develop a real-time game viewer with Pygame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Handle specialized endgames (KBN, KBB, KRK)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Proposed Methodology &amp;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14400"/>
            <a:ext cx="4572000" cy="381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210312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2103120" cy="20116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D2FF"/>
                </a:solidFill>
                <a:latin typeface="Calibri"/>
              </a:defRPr>
            </a:pPr>
            <a:r>
              <a:t>Board Representation</a:t>
            </a:r>
            <a:br/>
            <a:r>
              <a:t>&amp; Move Generation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python-chess library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Legal move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168" y="25603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280160"/>
            <a:ext cx="2103120" cy="457200"/>
          </a:xfrm>
          <a:prstGeom prst="round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828800"/>
            <a:ext cx="2103120" cy="20116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7B2FF7"/>
                </a:solidFill>
                <a:latin typeface="Calibri"/>
              </a:defRPr>
            </a:pPr>
            <a:r>
              <a:t>Search Algorithm</a:t>
            </a:r>
            <a:br/>
            <a:r>
              <a:t>(Negamax + α-β)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Iterative Deepening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Aspiration Windows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25603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280160"/>
            <a:ext cx="2103120" cy="45720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828800"/>
            <a:ext cx="2103120" cy="20116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E676"/>
                </a:solidFill>
                <a:latin typeface="Calibri"/>
              </a:defRPr>
            </a:pPr>
            <a:r>
              <a:t>Evaluation Function</a:t>
            </a:r>
            <a:br/>
            <a:r>
              <a:t>Design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Material + PST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Pawn Structure + King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25603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280160"/>
            <a:ext cx="2103120" cy="45720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1828800"/>
            <a:ext cx="2103120" cy="20116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FF9F43"/>
                </a:solidFill>
                <a:latin typeface="Calibri"/>
              </a:defRPr>
            </a:pPr>
            <a:r>
              <a:t>Texel Tuning</a:t>
            </a:r>
            <a:br/>
            <a:r>
              <a:t>(L-BFGS-B Optimization)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50K Stockfish evals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803 parameters tuned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8008" y="25603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280160"/>
            <a:ext cx="2103120" cy="4572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1828800"/>
            <a:ext cx="2103120" cy="20116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Search Enhancements</a:t>
            </a:r>
            <a:br/>
            <a:r>
              <a:t>&amp; Knowledge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TT, NMP, LMR, PVS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Opening Book + Tablebase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06240"/>
            <a:ext cx="11064240" cy="22860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7B2FF7"/>
                </a:solidFill>
                <a:latin typeface="Calibri"/>
              </a:defRPr>
            </a:pPr>
            <a:r>
              <a:t>🔄 Complete Engine Pipeline (Per Move)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1. Opening Book Probe → If position found in Polyglot book, return weighted-random book move instantly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2. Syzygy Tablebase Probe → For ≤5-piece positions, return perfect DTZ-optimal move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3. Iterative Deepening Search → Search depth 1, 2, 3, ... up to max_depth with dynamic endgame depth boost (+6 for ≤4 pieces)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4. At each depth: Negamax with α-β pruning → Null-move pruning → PVS → LMR → Quiescence search (captures + checks)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5. Move Ordering: TT move → MVV-LVA captures → Promotions → Killer moves → History heuristic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6. Evaluation: Material + PST (tapered) + Pawn structure + Bishop pair + Rook files + King safety + Hanging pieces + Mop-up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Search Algorithm: Negamax with Alpha-Beta Pruning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14400"/>
            <a:ext cx="5486400" cy="381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22860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00D2FF"/>
                </a:solidFill>
                <a:latin typeface="Calibri"/>
              </a:defRPr>
            </a:pPr>
            <a:r>
              <a:t>🔍 Core Search: Negamax + Alpha-Beta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Negamax formulation: score = -negamax(-β, -α)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Alpha-Beta pruning cuts branches that can't improve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Iterative Deepening: search 1..max_depth, use prior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  results for better move ordering at each iteration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Aspiration Windows: narrow α-β window around previous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  score; re-search with full window on fail-high/low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22860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7B2FF7"/>
                </a:solidFill>
                <a:latin typeface="Calibri"/>
              </a:defRPr>
            </a:pPr>
            <a:r>
              <a:t>⚡ Search Enhancements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Null-Move Pruning: skip move, search at depth-3;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  if score ≥ β, prune (opponent can't improve)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Late Move Reductions (LMR): reduce depth for late,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  quiet moves (reduction = 1 for move ≥4, 2 for ≥7)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Principal Variation Search (PVS): zero-window search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  for non-PV moves; re-search if it fails 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49039"/>
            <a:ext cx="5486400" cy="25603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00E676"/>
                </a:solidFill>
                <a:latin typeface="Calibri"/>
              </a:defRPr>
            </a:pPr>
            <a:r>
              <a:t>🎯 Quiescence Search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Problem: stopping search mid-tactic gives wrong eval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Solution: extend search on captures and checks only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Stand-pat: use static eval as lower bound (can refuse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  captures if position is already good enough)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Delta Pruning: skip captures that can't raise alpha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  even if best possible piece is captured (+1000+200)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In check: search ALL moves (not just captures)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486400" cy="25603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FF9F43"/>
                </a:solidFill>
                <a:latin typeface="Calibri"/>
              </a:defRPr>
            </a:pPr>
            <a:r>
              <a:t>📊 Move Ordering &amp; Transposition Table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Priority: TT move (10K) → Captures MVV-LVA (1K+)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  → Queen promotions (9K) → Killers (800) → History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MVV-LVA: 10×victim_value - attacker_value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Killer Heuristic: 2 killer moves per ply (quiet moves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  that caused beta cutoffs at same depth previously)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History Heuristic: depth² bonus for α-improving quiets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TT: 1M-entry hash table, depth-preferred replacement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  Stores: depth, score, flag (EXACT/LOWER/UPPER), move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Evaluation Function: Comprehensive Position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14400"/>
            <a:ext cx="5486400" cy="381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57600" cy="22860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00D2FF"/>
                </a:solidFill>
                <a:latin typeface="Calibri"/>
              </a:defRPr>
            </a:pPr>
            <a:r>
              <a:t>♟ Material + PST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Separate MG/EG values per piece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64-entry PST per piece per phase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PeSTO tables (Texel-refined)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Phase tapering: weight = count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  of minor/major pieces (0-24)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188720"/>
            <a:ext cx="3657600" cy="22860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00E676"/>
                </a:solidFill>
                <a:latin typeface="Calibri"/>
              </a:defRPr>
            </a:pPr>
            <a:r>
              <a:t>♙ Pawn Structure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Doubled pawns: -18 penalty (EG)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Isolated pawns: -24 penalty (both)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Passed pawns: rank-based bonus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  MG: [0,6,12,24,49,79,122,0]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  EG: [0,18,37,61,110,183,305,0]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Connected passers: +37 bonus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Rook behind passer: +49 bonus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188720"/>
            <a:ext cx="3474720" cy="22860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FF9F43"/>
                </a:solidFill>
                <a:latin typeface="Calibri"/>
              </a:defRPr>
            </a:pPr>
            <a:r>
              <a:t>👑 King Safety &amp; Positional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King pawn shield: +12 per pawn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Bishop pair: +37 bonus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Rook on open file: +30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Rook on semi-open: +15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Hanging piece penalties: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  N:-195  B:-201  R:-305  Q:-549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49039"/>
            <a:ext cx="5486400" cy="25603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7B2FF7"/>
                </a:solidFill>
                <a:latin typeface="Calibri"/>
              </a:defRPr>
            </a:pPr>
            <a:r>
              <a:t>🏁 Endgame Specialization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Mop-up Evaluation: when material advantage ≥ 200cp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  → Reward pushing losing king to edge (×15)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  → Reward king proximity to opponent (×8)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  → Scaled by advantage magnitude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KBN vs K: Correct-corner attraction (×500), wrong-corner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  repulsion (×200), knight coordination, mobility trap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KBB vs K: Corner push (×60), edge push (×50), proximity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50-move rule decay: reduce score as halfmove_clock →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5486400" cy="25603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⚖️ Game-Phase Tapering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Phase = sum of piece weights on board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  Knight/Bishop=1, Rook=2, Queen=4 (max 24)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score = (mg × phase + eg × (24-phase)) / 24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Smooth transition avoids evaluation discontinuity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Dynamic Depth Boost in endgames: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  ≤4 pieces → +6 depth | ≤5 → +4 | ≤6 → +3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  ≤10 → +2 | ≤16 → +1 (lower branching factor)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Implementation: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14400"/>
            <a:ext cx="4572000" cy="381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064240" cy="13716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FF9F43"/>
                </a:solidFill>
                <a:latin typeface="Calibri"/>
              </a:defRPr>
            </a:pPr>
            <a:r>
              <a:t>🏗️ Modular Architecture Overview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The engine follows a clean modular architecture with separation of concerns across 6 core modules + UI layer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Built entirely in Python using python-chess, NumPy, SciPy, and Pygame for visualization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2651760" cy="1554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0D2FF"/>
                </a:solidFill>
                <a:latin typeface="Calibri"/>
              </a:defRPr>
            </a:pPr>
            <a:r>
              <a:t>search.py (470 LOC)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Negamax, α-β, ID,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PVS, LMR, NMP, QSearch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834640"/>
            <a:ext cx="2651760" cy="1554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0E676"/>
                </a:solidFill>
                <a:latin typeface="Calibri"/>
              </a:defRPr>
            </a:pPr>
            <a:r>
              <a:t>evaluation.py (725 LOC)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Material, PST, Pawn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structure, Endgame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834640"/>
            <a:ext cx="2651760" cy="1554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7B2FF7"/>
                </a:solidFill>
                <a:latin typeface="Calibri"/>
              </a:defRPr>
            </a:pPr>
            <a:r>
              <a:t>texel_tuning.py (428 LOC)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L-BFGS-B optimizer,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803-param design matrix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2834640"/>
            <a:ext cx="2651760" cy="1554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FF9F43"/>
                </a:solidFill>
                <a:latin typeface="Calibri"/>
              </a:defRPr>
            </a:pPr>
            <a:r>
              <a:t>transposition.py (106 LOC)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1M-entry hash table,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Zobrist key lookup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63440"/>
            <a:ext cx="2651760" cy="1554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move_ordering.py (65 LOC)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MVV-LVA, Killers,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History heuristic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4663440"/>
            <a:ext cx="2651760" cy="1554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0D2FF"/>
                </a:solidFill>
                <a:latin typeface="Calibri"/>
              </a:defRPr>
            </a:pPr>
            <a:r>
              <a:t>openingbook.py (93 LOC)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Polyglot .bin reader,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Weighted-random pick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663440"/>
            <a:ext cx="2651760" cy="1554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0E676"/>
                </a:solidFill>
                <a:latin typeface="Calibri"/>
              </a:defRPr>
            </a:pPr>
            <a:r>
              <a:t>tablebase.py (120 LOC)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Syzygy WDL+DTZ probe,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Optimal endgame moves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4663440"/>
            <a:ext cx="2651760" cy="1554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7B2FF7"/>
                </a:solidFill>
                <a:latin typeface="Calibri"/>
              </a:defRPr>
            </a:pPr>
            <a:r>
              <a:t>UI/main.py (1164 LOC)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Full Pygame GUI, drag+drop,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Eval bar, clocks, premoves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Implementation: Core Algorithm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14400"/>
            <a:ext cx="4572000" cy="381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2743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00D2FF"/>
                </a:solidFill>
                <a:latin typeface="Calibri"/>
              </a:defRPr>
            </a:pPr>
            <a:r>
              <a:t>🧠 Negamax Alpha-Beta (Pseudocode)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function negamax(board, depth, α, β, ply):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  if repetition → return 0 (draw)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  if TT hit → return cached (score, move)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  if game_over → return evaluate(board)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  if depth ≤ 0 → return quiescence(α, β)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  null_move_pruning(board, depth, β)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  for each move in ordered_moves: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    if first_move: full window search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    else: PVS zero-window + LMR reduction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    if score ≥ β: cutoff + store killer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  store in TT → return (best_score, best_move)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2743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7B2FF7"/>
                </a:solidFill>
                <a:latin typeface="Calibri"/>
              </a:defRPr>
            </a:pPr>
            <a:r>
              <a:t>📐 Texel Tuning Pipeline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1. Generate random positions from self-play games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2. Evaluate each with Stockfish (depth 12) → cp score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3. Filter: skip terminal, ≤4 pieces, in-check, captures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4. Build 803-column design matrix X (N × 803):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   → Extract MG/EG material, PST, and bonus features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   → Apply game-phase tapering weights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5. Loss = MSE(σ(X·θ/400) - σ(sf_eval/400))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6. L-BFGS-B minimization with L2 regularization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7. Scale weights so Pawn = 100cp, center PSTs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8. Export tuned_weights.py → auto-loaded by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5486400" cy="22860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00E676"/>
                </a:solidFill>
                <a:latin typeface="Calibri"/>
              </a:defRPr>
            </a:pPr>
            <a:r>
              <a:t>📊 Data Generation Pipeline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generate_dataset.py: creates training data via Stockfish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Random game positions (semi-intelligent: favor captures/checks)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Strict quiescence filter: no captures available for side to move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Deduplication via FEN key (position only, no clocks)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50,000+ unique positions at Stockfish depth 12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Eval clamped to ±5000cp, mates → converted to ±10000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06240"/>
            <a:ext cx="5486400" cy="22860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FF9F43"/>
                </a:solidFill>
                <a:latin typeface="Calibri"/>
              </a:defRPr>
            </a:pPr>
            <a:r>
              <a:t>🏋️ Self-Play Benchmark &amp; Validation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benchmark.py: N-game match between tuned vs original engine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Alternating colors for fairness (engine swaps each game)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All 784 parameters swapped atomically before each move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TT cleared on engine switch to prevent score leakage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selfplay_viewer.py: Live Pygame visualization of matches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Tracks: score, move list, eval per move, game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Implementation: Interactive Chess UI (Pygame)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14400"/>
            <a:ext cx="4572000" cy="381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2743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00D2FF"/>
                </a:solidFill>
                <a:latin typeface="Calibri"/>
              </a:defRPr>
            </a:pPr>
            <a:r>
              <a:t>🎮 User Interface Features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Full interactive chessboard with SVG piece rendering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Click-to-move AND drag-and-drop piece movement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Legal move highlighting (dots on valid squares)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Piece promotion popup (Queen, Rook, Bishop, Knight)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Premove support (queue a move during engine's turn)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Captured pieces display (top and bottom bars)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Last-move highlighting (yellow/green squares)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King-in-check highlighting (red square)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2743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00E676"/>
                </a:solidFill>
                <a:latin typeface="Calibri"/>
              </a:defRPr>
            </a:pPr>
            <a:r>
              <a:t>📊 Engine Info Panel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Animated evaluation bar (chess.com-style, left of board)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  → Smooth easing interpolation for eval changes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  → Mate detection with 'M3' style labels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  → Triangle marker at fill edge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Move History panel with scrolling list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Chess clock system (time control + increment)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  → Supports both count-up and countdown modes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Resign button with hover effects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• Game-over popup with play-again option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064240" cy="22860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800" b="1">
                <a:solidFill>
                  <a:srgbClr val="7B2FF7"/>
                </a:solidFill>
                <a:latin typeface="Calibri"/>
              </a:defRPr>
            </a:pPr>
            <a:r>
              <a:t>⚙️ Technical UI Implementation Details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Non-blocking engine: search runs in a background thread with queue-based result passing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Cancellation support: engine_cancel_event prevents stale results from being applied after game reset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Hot-reload: press 'R' to live-reload values.py, pieces.py, and chessboard.py without restarting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Landing page: color selection (White/Black) and time control configuration before game starts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Game phases: handles opening book → engine search → tablebase transition seamlessly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Responsive layout: board, panel, eval bar, clocks all calculated relative to configurable margins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Technology Stack &amp;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914400"/>
            <a:ext cx="4572000" cy="381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10058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00D2FF"/>
                </a:solidFill>
                <a:latin typeface="Calibri"/>
              </a:defRPr>
            </a:pPr>
            <a:r>
              <a:t>Python 3.x</a:t>
            </a:r>
          </a:p>
          <a:p>
            <a:pPr>
              <a:defRPr sz="1400">
                <a:solidFill>
                  <a:srgbClr val="CCCCCC"/>
                </a:solidFill>
                <a:latin typeface="Calibri"/>
              </a:defRPr>
            </a:pPr>
            <a:r>
              <a:t>Core language for all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94960" cy="10058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00E676"/>
                </a:solidFill>
                <a:latin typeface="Calibri"/>
              </a:defRPr>
            </a:pPr>
            <a:r>
              <a:t>python-chess</a:t>
            </a:r>
          </a:p>
          <a:p>
            <a:pPr>
              <a:defRPr sz="1400">
                <a:solidFill>
                  <a:srgbClr val="CCCCCC"/>
                </a:solidFill>
                <a:latin typeface="Calibri"/>
              </a:defRPr>
            </a:pPr>
            <a:r>
              <a:t>Board representation, move gen, FEN/PGN, Polyglot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23160"/>
            <a:ext cx="5394960" cy="10058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7B2FF7"/>
                </a:solidFill>
                <a:latin typeface="Calibri"/>
              </a:defRPr>
            </a:pPr>
            <a:r>
              <a:t>NumPy</a:t>
            </a:r>
          </a:p>
          <a:p>
            <a:pPr>
              <a:defRPr sz="1400">
                <a:solidFill>
                  <a:srgbClr val="CCCCCC"/>
                </a:solidFill>
                <a:latin typeface="Calibri"/>
              </a:defRPr>
            </a:pPr>
            <a:r>
              <a:t>Vectorized design matrix for Texel Tuning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423160"/>
            <a:ext cx="5394960" cy="10058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FF9F43"/>
                </a:solidFill>
                <a:latin typeface="Calibri"/>
              </a:defRPr>
            </a:pPr>
            <a:r>
              <a:t>SciPy (L-BFGS-B)</a:t>
            </a:r>
          </a:p>
          <a:p>
            <a:pPr>
              <a:defRPr sz="1400">
                <a:solidFill>
                  <a:srgbClr val="CCCCCC"/>
                </a:solidFill>
                <a:latin typeface="Calibri"/>
              </a:defRPr>
            </a:pPr>
            <a:r>
              <a:t>Gradient-based optimizer for 803 parameters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57600"/>
            <a:ext cx="5394960" cy="10058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FFD700"/>
                </a:solidFill>
                <a:latin typeface="Calibri"/>
              </a:defRPr>
            </a:pPr>
            <a:r>
              <a:t>Pygame</a:t>
            </a:r>
          </a:p>
          <a:p>
            <a:pPr>
              <a:defRPr sz="1400">
                <a:solidFill>
                  <a:srgbClr val="CCCCCC"/>
                </a:solidFill>
                <a:latin typeface="Calibri"/>
              </a:defRPr>
            </a:pPr>
            <a:r>
              <a:t>Interactive chessboard GUI, self-play 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5394960" cy="10058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00D2FF"/>
                </a:solidFill>
                <a:latin typeface="Calibri"/>
              </a:defRPr>
            </a:pPr>
            <a:r>
              <a:t>Stockfish</a:t>
            </a:r>
          </a:p>
          <a:p>
            <a:pPr>
              <a:defRPr sz="1400">
                <a:solidFill>
                  <a:srgbClr val="CCCCCC"/>
                </a:solidFill>
                <a:latin typeface="Calibri"/>
              </a:defRPr>
            </a:pPr>
            <a:r>
              <a:t>Reference evaluations for training data generation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92040"/>
            <a:ext cx="5394960" cy="10058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00E676"/>
                </a:solidFill>
                <a:latin typeface="Calibri"/>
              </a:defRPr>
            </a:pPr>
            <a:r>
              <a:t>Syzygy Tablebases</a:t>
            </a:r>
          </a:p>
          <a:p>
            <a:pPr>
              <a:defRPr sz="1400">
                <a:solidFill>
                  <a:srgbClr val="CCCCCC"/>
                </a:solidFill>
                <a:latin typeface="Calibri"/>
              </a:defRPr>
            </a:pPr>
            <a:r>
              <a:t>Perfect endgame play for ≤5-piece positions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892040"/>
            <a:ext cx="5394960" cy="10058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999999"/>
                </a:solidFill>
                <a:latin typeface="Calibri"/>
              </a:defRPr>
            </a:pPr>
            <a:r>
              <a:t>Git</a:t>
            </a:r>
          </a:p>
          <a:p>
            <a:pPr>
              <a:defRPr sz="1400">
                <a:solidFill>
                  <a:srgbClr val="CCCCCC"/>
                </a:solidFill>
                <a:latin typeface="Calibri"/>
              </a:defRPr>
            </a:pPr>
            <a:r>
              <a:t>Version control, collaboration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017520"/>
            <a:ext cx="3931920" cy="381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Calibri"/>
              </a:defRPr>
            </a:pPr>
            <a:r>
              <a:t>♜  Chess Engine with AI-Driven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IT255 — Artificial Intelligence Mini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